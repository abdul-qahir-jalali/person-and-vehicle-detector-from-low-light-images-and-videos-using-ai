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89" r:id="rId6"/>
    <p:sldId id="290" r:id="rId7"/>
    <p:sldId id="291" r:id="rId8"/>
    <p:sldId id="292" r:id="rId9"/>
    <p:sldId id="293" r:id="rId10"/>
    <p:sldId id="294" r:id="rId11"/>
    <p:sldId id="295" r:id="rId12"/>
    <p:sldId id="296" r:id="rId13"/>
    <p:sldId id="297" r:id="rId14"/>
    <p:sldId id="298" r:id="rId15"/>
    <p:sldId id="299" r:id="rId16"/>
    <p:sldId id="300"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1" d="100"/>
          <a:sy n="61" d="100"/>
        </p:scale>
        <p:origin x="1098" y="7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2/28/2026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2/28/2026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Robust object Detection system</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r>
              <a:rPr lang="en-US" dirty="0"/>
              <a:t>Deep Learning-Based Object Detection Under Adverse Weather Conditions”</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3E45F-9663-4989-EF0A-2EA96EE7AFFB}"/>
              </a:ext>
            </a:extLst>
          </p:cNvPr>
          <p:cNvSpPr>
            <a:spLocks noGrp="1"/>
          </p:cNvSpPr>
          <p:nvPr>
            <p:ph type="title"/>
          </p:nvPr>
        </p:nvSpPr>
        <p:spPr>
          <a:xfrm>
            <a:off x="444500" y="542925"/>
            <a:ext cx="11214100" cy="978729"/>
          </a:xfrm>
        </p:spPr>
        <p:txBody>
          <a:bodyPr/>
          <a:lstStyle/>
          <a:p>
            <a:r>
              <a:rPr lang="en-US" dirty="0"/>
              <a:t>Project Agenda</a:t>
            </a:r>
            <a:br>
              <a:rPr lang="en-US" dirty="0"/>
            </a:br>
            <a:endParaRPr lang="en-US" dirty="0"/>
          </a:p>
        </p:txBody>
      </p:sp>
      <p:sp>
        <p:nvSpPr>
          <p:cNvPr id="3" name="Slide Number Placeholder 2">
            <a:extLst>
              <a:ext uri="{FF2B5EF4-FFF2-40B4-BE49-F238E27FC236}">
                <a16:creationId xmlns:a16="http://schemas.microsoft.com/office/drawing/2014/main" id="{2442D42A-55D4-937D-2B70-8F925CFD6C2A}"/>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4" name="Text Placeholder 3">
            <a:extLst>
              <a:ext uri="{FF2B5EF4-FFF2-40B4-BE49-F238E27FC236}">
                <a16:creationId xmlns:a16="http://schemas.microsoft.com/office/drawing/2014/main" id="{58452B70-92E3-F0BC-4461-0518A4E45B13}"/>
              </a:ext>
            </a:extLst>
          </p:cNvPr>
          <p:cNvSpPr>
            <a:spLocks noGrp="1"/>
          </p:cNvSpPr>
          <p:nvPr>
            <p:ph type="body" sz="quarter" idx="13"/>
          </p:nvPr>
        </p:nvSpPr>
        <p:spPr>
          <a:xfrm>
            <a:off x="560615" y="1650144"/>
            <a:ext cx="6718300" cy="4093243"/>
          </a:xfrm>
        </p:spPr>
        <p:txBody>
          <a:bodyPr/>
          <a:lstStyle/>
          <a:p>
            <a:r>
              <a:rPr lang="en-US" dirty="0"/>
              <a:t>Introduction</a:t>
            </a:r>
          </a:p>
          <a:p>
            <a:r>
              <a:rPr lang="en-US" dirty="0"/>
              <a:t>Background &amp; Literature Review</a:t>
            </a:r>
          </a:p>
          <a:p>
            <a:r>
              <a:rPr lang="en-US" dirty="0"/>
              <a:t>Problem Statement</a:t>
            </a:r>
          </a:p>
          <a:p>
            <a:r>
              <a:rPr lang="en-US" dirty="0"/>
              <a:t>Project Objectives</a:t>
            </a:r>
          </a:p>
          <a:p>
            <a:r>
              <a:rPr lang="en-US" dirty="0"/>
              <a:t>Scope of Project Proposed </a:t>
            </a:r>
          </a:p>
          <a:p>
            <a:r>
              <a:rPr lang="en-US" dirty="0"/>
              <a:t>Methodology</a:t>
            </a:r>
          </a:p>
          <a:p>
            <a:r>
              <a:rPr lang="en-US" dirty="0"/>
              <a:t>System Architecture</a:t>
            </a:r>
          </a:p>
          <a:p>
            <a:r>
              <a:rPr lang="en-US" dirty="0"/>
              <a:t>Expected Outcomes &amp; Impact Work</a:t>
            </a:r>
          </a:p>
          <a:p>
            <a:r>
              <a:rPr lang="en-US" dirty="0"/>
              <a:t> Plan &amp; Timeline</a:t>
            </a:r>
          </a:p>
          <a:p>
            <a:r>
              <a:rPr lang="en-US" dirty="0"/>
              <a:t>Conclusion</a:t>
            </a:r>
          </a:p>
        </p:txBody>
      </p:sp>
    </p:spTree>
    <p:extLst>
      <p:ext uri="{BB962C8B-B14F-4D97-AF65-F5344CB8AC3E}">
        <p14:creationId xmlns:p14="http://schemas.microsoft.com/office/powerpoint/2010/main" val="1504297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73864-6ECE-8A5A-442A-A1D13DADCEC2}"/>
              </a:ext>
            </a:extLst>
          </p:cNvPr>
          <p:cNvSpPr>
            <a:spLocks noGrp="1"/>
          </p:cNvSpPr>
          <p:nvPr>
            <p:ph type="title"/>
          </p:nvPr>
        </p:nvSpPr>
        <p:spPr/>
        <p:txBody>
          <a:bodyPr/>
          <a:lstStyle/>
          <a:p>
            <a:r>
              <a:rPr lang="en-US" dirty="0"/>
              <a:t>Introduction</a:t>
            </a:r>
          </a:p>
        </p:txBody>
      </p:sp>
      <p:sp>
        <p:nvSpPr>
          <p:cNvPr id="3" name="Slide Number Placeholder 2">
            <a:extLst>
              <a:ext uri="{FF2B5EF4-FFF2-40B4-BE49-F238E27FC236}">
                <a16:creationId xmlns:a16="http://schemas.microsoft.com/office/drawing/2014/main" id="{B3DFE22E-C096-DE6A-ADCA-6357EA0CA3C9}"/>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sp>
        <p:nvSpPr>
          <p:cNvPr id="4" name="Text Placeholder 3">
            <a:extLst>
              <a:ext uri="{FF2B5EF4-FFF2-40B4-BE49-F238E27FC236}">
                <a16:creationId xmlns:a16="http://schemas.microsoft.com/office/drawing/2014/main" id="{6B50D57D-BFAD-3FBA-F037-729B214FADDF}"/>
              </a:ext>
            </a:extLst>
          </p:cNvPr>
          <p:cNvSpPr>
            <a:spLocks noGrp="1"/>
          </p:cNvSpPr>
          <p:nvPr>
            <p:ph type="body" sz="quarter" idx="13"/>
          </p:nvPr>
        </p:nvSpPr>
        <p:spPr/>
        <p:txBody>
          <a:bodyPr/>
          <a:lstStyle/>
          <a:p>
            <a:pPr marL="0" indent="0">
              <a:buNone/>
            </a:pPr>
            <a:r>
              <a:rPr lang="en-US" dirty="0"/>
              <a:t>Object detection is a fundamental task in computer vision that identifies                           and localizes objects in images or videos . It is widely used in:</a:t>
            </a:r>
          </a:p>
          <a:p>
            <a:r>
              <a:rPr lang="en-US" dirty="0"/>
              <a:t>Autonomous vehicles</a:t>
            </a:r>
          </a:p>
          <a:p>
            <a:r>
              <a:rPr lang="en-US" dirty="0"/>
              <a:t>Traffic monitoring</a:t>
            </a:r>
          </a:p>
          <a:p>
            <a:r>
              <a:rPr lang="en-US" dirty="0"/>
              <a:t>Surveillance systems</a:t>
            </a:r>
          </a:p>
          <a:p>
            <a:r>
              <a:rPr lang="en-US" dirty="0"/>
              <a:t>Smart city applications</a:t>
            </a:r>
          </a:p>
          <a:p>
            <a:pPr marL="0" indent="0">
              <a:buNone/>
            </a:pPr>
            <a:r>
              <a:rPr lang="en-US" dirty="0"/>
              <a:t>However, detection accuracy decreases significantly in adverse weather conditions such as low light, rain, and fog. This project aims to develop a robust object detection system that performs effectively in challenging environments.</a:t>
            </a:r>
          </a:p>
        </p:txBody>
      </p:sp>
    </p:spTree>
    <p:extLst>
      <p:ext uri="{BB962C8B-B14F-4D97-AF65-F5344CB8AC3E}">
        <p14:creationId xmlns:p14="http://schemas.microsoft.com/office/powerpoint/2010/main" val="24606217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629EE-D94D-383C-B1AA-83C848C9B539}"/>
              </a:ext>
            </a:extLst>
          </p:cNvPr>
          <p:cNvSpPr>
            <a:spLocks noGrp="1"/>
          </p:cNvSpPr>
          <p:nvPr>
            <p:ph type="title"/>
          </p:nvPr>
        </p:nvSpPr>
        <p:spPr/>
        <p:txBody>
          <a:bodyPr/>
          <a:lstStyle/>
          <a:p>
            <a:r>
              <a:rPr lang="en-US" dirty="0"/>
              <a:t>Background &amp; Literature Review</a:t>
            </a:r>
          </a:p>
        </p:txBody>
      </p:sp>
      <p:sp>
        <p:nvSpPr>
          <p:cNvPr id="3" name="Slide Number Placeholder 2">
            <a:extLst>
              <a:ext uri="{FF2B5EF4-FFF2-40B4-BE49-F238E27FC236}">
                <a16:creationId xmlns:a16="http://schemas.microsoft.com/office/drawing/2014/main" id="{A13B78C5-88C1-988E-8485-B3CDF4F24086}"/>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a:extLst>
              <a:ext uri="{FF2B5EF4-FFF2-40B4-BE49-F238E27FC236}">
                <a16:creationId xmlns:a16="http://schemas.microsoft.com/office/drawing/2014/main" id="{D9CA9B36-A621-F857-A460-9DA1E35B8DA9}"/>
              </a:ext>
            </a:extLst>
          </p:cNvPr>
          <p:cNvSpPr>
            <a:spLocks noGrp="1"/>
          </p:cNvSpPr>
          <p:nvPr>
            <p:ph type="body" sz="quarter" idx="13"/>
          </p:nvPr>
        </p:nvSpPr>
        <p:spPr/>
        <p:txBody>
          <a:bodyPr/>
          <a:lstStyle/>
          <a:p>
            <a:pPr marL="0" indent="0">
              <a:buNone/>
            </a:pPr>
            <a:r>
              <a:rPr lang="en-US" dirty="0"/>
              <a:t>Many researchers have used deep learning models for object detection:</a:t>
            </a:r>
          </a:p>
          <a:p>
            <a:pPr marL="0" indent="0">
              <a:buNone/>
            </a:pPr>
            <a:r>
              <a:rPr lang="en-US" dirty="0"/>
              <a:t>R-CNN family models</a:t>
            </a:r>
          </a:p>
          <a:p>
            <a:pPr marL="0" indent="0">
              <a:buNone/>
            </a:pPr>
            <a:r>
              <a:rPr lang="en-US" dirty="0"/>
              <a:t>SSD (Single Shot Detector)</a:t>
            </a:r>
          </a:p>
          <a:p>
            <a:pPr marL="0" indent="0">
              <a:buNone/>
            </a:pPr>
            <a:r>
              <a:rPr lang="en-US" dirty="0"/>
              <a:t>YOLO (You Only Look Once)</a:t>
            </a:r>
          </a:p>
          <a:p>
            <a:pPr marL="0" indent="0">
              <a:buNone/>
            </a:pPr>
            <a:r>
              <a:rPr lang="en-US" dirty="0"/>
              <a:t>Recent studies show that  YOLO provides real-time detection Performance drops in low visibility conditions Image enhancement techniques improve detection accuracy However, limited work focuses specifically on robust detection under low light, rain, and fog conditions . This project builds upon existing research and improves detection reliability in adverse environments.</a:t>
            </a:r>
          </a:p>
        </p:txBody>
      </p:sp>
    </p:spTree>
    <p:extLst>
      <p:ext uri="{BB962C8B-B14F-4D97-AF65-F5344CB8AC3E}">
        <p14:creationId xmlns:p14="http://schemas.microsoft.com/office/powerpoint/2010/main" val="375913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9ADF0-21AF-E685-D76F-163B7DC9E35C}"/>
              </a:ext>
            </a:extLst>
          </p:cNvPr>
          <p:cNvSpPr>
            <a:spLocks noGrp="1"/>
          </p:cNvSpPr>
          <p:nvPr>
            <p:ph type="title"/>
          </p:nvPr>
        </p:nvSpPr>
        <p:spPr>
          <a:xfrm>
            <a:off x="444500" y="542925"/>
            <a:ext cx="11214100" cy="978729"/>
          </a:xfrm>
        </p:spPr>
        <p:txBody>
          <a:bodyPr/>
          <a:lstStyle/>
          <a:p>
            <a:r>
              <a:rPr lang="en-US" dirty="0"/>
              <a:t>Problem Statement</a:t>
            </a:r>
            <a:br>
              <a:rPr lang="en-US" dirty="0"/>
            </a:br>
            <a:endParaRPr lang="en-US" dirty="0"/>
          </a:p>
        </p:txBody>
      </p:sp>
      <p:sp>
        <p:nvSpPr>
          <p:cNvPr id="3" name="Slide Number Placeholder 2">
            <a:extLst>
              <a:ext uri="{FF2B5EF4-FFF2-40B4-BE49-F238E27FC236}">
                <a16:creationId xmlns:a16="http://schemas.microsoft.com/office/drawing/2014/main" id="{EF30102F-AA5B-2747-B5F0-FD243357C76D}"/>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a:extLst>
              <a:ext uri="{FF2B5EF4-FFF2-40B4-BE49-F238E27FC236}">
                <a16:creationId xmlns:a16="http://schemas.microsoft.com/office/drawing/2014/main" id="{E4C8AD31-9727-F431-41EE-2AE0F514405A}"/>
              </a:ext>
            </a:extLst>
          </p:cNvPr>
          <p:cNvSpPr>
            <a:spLocks noGrp="1"/>
          </p:cNvSpPr>
          <p:nvPr>
            <p:ph type="body" sz="quarter" idx="13"/>
          </p:nvPr>
        </p:nvSpPr>
        <p:spPr/>
        <p:txBody>
          <a:bodyPr/>
          <a:lstStyle/>
          <a:p>
            <a:pPr marL="0" indent="0">
              <a:buNone/>
            </a:pPr>
            <a:r>
              <a:rPr lang="en-US" dirty="0"/>
              <a:t>Most existing object detection systems perform well in normal lighting conditions. But they face challenges such as:</a:t>
            </a:r>
          </a:p>
          <a:p>
            <a:r>
              <a:rPr lang="en-US" dirty="0"/>
              <a:t>Reduced visibility</a:t>
            </a:r>
          </a:p>
          <a:p>
            <a:r>
              <a:rPr lang="en-US" dirty="0"/>
              <a:t>Noise in images</a:t>
            </a:r>
          </a:p>
          <a:p>
            <a:r>
              <a:rPr lang="en-US" dirty="0"/>
              <a:t>Blurred objects Low contrast</a:t>
            </a:r>
          </a:p>
          <a:p>
            <a:pPr marL="0" indent="0">
              <a:buNone/>
            </a:pPr>
            <a:r>
              <a:rPr lang="en-US" dirty="0"/>
              <a:t>Therefore, there is a need to design a system that can accurately detect objects in adverse weather conditions.</a:t>
            </a:r>
          </a:p>
        </p:txBody>
      </p:sp>
    </p:spTree>
    <p:extLst>
      <p:ext uri="{BB962C8B-B14F-4D97-AF65-F5344CB8AC3E}">
        <p14:creationId xmlns:p14="http://schemas.microsoft.com/office/powerpoint/2010/main" val="2897702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FB3A2-0A39-991D-79E2-711D89F68686}"/>
              </a:ext>
            </a:extLst>
          </p:cNvPr>
          <p:cNvSpPr>
            <a:spLocks noGrp="1"/>
          </p:cNvSpPr>
          <p:nvPr>
            <p:ph type="title"/>
          </p:nvPr>
        </p:nvSpPr>
        <p:spPr/>
        <p:txBody>
          <a:bodyPr/>
          <a:lstStyle/>
          <a:p>
            <a:r>
              <a:rPr lang="en-US" dirty="0"/>
              <a:t>Project Objectives</a:t>
            </a:r>
          </a:p>
        </p:txBody>
      </p:sp>
      <p:sp>
        <p:nvSpPr>
          <p:cNvPr id="3" name="Slide Number Placeholder 2">
            <a:extLst>
              <a:ext uri="{FF2B5EF4-FFF2-40B4-BE49-F238E27FC236}">
                <a16:creationId xmlns:a16="http://schemas.microsoft.com/office/drawing/2014/main" id="{0D137BC5-6133-478E-2309-67938BF17DA2}"/>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sp>
        <p:nvSpPr>
          <p:cNvPr id="4" name="Text Placeholder 3">
            <a:extLst>
              <a:ext uri="{FF2B5EF4-FFF2-40B4-BE49-F238E27FC236}">
                <a16:creationId xmlns:a16="http://schemas.microsoft.com/office/drawing/2014/main" id="{6A8A0273-EA11-26A4-3EA2-554DD59001CC}"/>
              </a:ext>
            </a:extLst>
          </p:cNvPr>
          <p:cNvSpPr>
            <a:spLocks noGrp="1"/>
          </p:cNvSpPr>
          <p:nvPr>
            <p:ph type="body" sz="quarter" idx="13"/>
          </p:nvPr>
        </p:nvSpPr>
        <p:spPr/>
        <p:txBody>
          <a:bodyPr/>
          <a:lstStyle/>
          <a:p>
            <a:pPr marL="0" indent="0">
              <a:buNone/>
            </a:pPr>
            <a:r>
              <a:rPr lang="en-US" dirty="0"/>
              <a:t>The main objectives of this project are:</a:t>
            </a:r>
          </a:p>
          <a:p>
            <a:r>
              <a:rPr lang="en-US" dirty="0"/>
              <a:t>To develop a robust object detection </a:t>
            </a:r>
            <a:r>
              <a:rPr lang="en-US" dirty="0" err="1"/>
              <a:t>systemTo</a:t>
            </a:r>
            <a:r>
              <a:rPr lang="en-US" dirty="0"/>
              <a:t> enhance low-quality images before detection</a:t>
            </a:r>
          </a:p>
          <a:p>
            <a:r>
              <a:rPr lang="en-US" dirty="0"/>
              <a:t>To implement YOLO-based deep learning model</a:t>
            </a:r>
          </a:p>
          <a:p>
            <a:r>
              <a:rPr lang="en-US" dirty="0"/>
              <a:t>To evaluate performance using standard metrics</a:t>
            </a:r>
          </a:p>
          <a:p>
            <a:r>
              <a:rPr lang="en-US" dirty="0"/>
              <a:t>To integrate the system into a web-based application</a:t>
            </a:r>
          </a:p>
        </p:txBody>
      </p:sp>
    </p:spTree>
    <p:extLst>
      <p:ext uri="{BB962C8B-B14F-4D97-AF65-F5344CB8AC3E}">
        <p14:creationId xmlns:p14="http://schemas.microsoft.com/office/powerpoint/2010/main" val="342339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27DE1-24C6-DB85-6727-9FA2175D8D14}"/>
              </a:ext>
            </a:extLst>
          </p:cNvPr>
          <p:cNvSpPr>
            <a:spLocks noGrp="1"/>
          </p:cNvSpPr>
          <p:nvPr>
            <p:ph type="title"/>
          </p:nvPr>
        </p:nvSpPr>
        <p:spPr>
          <a:xfrm>
            <a:off x="444500" y="542925"/>
            <a:ext cx="11214100" cy="978729"/>
          </a:xfrm>
        </p:spPr>
        <p:txBody>
          <a:bodyPr/>
          <a:lstStyle/>
          <a:p>
            <a:r>
              <a:rPr lang="en-US" dirty="0"/>
              <a:t>Scope of the Project</a:t>
            </a:r>
            <a:br>
              <a:rPr lang="en-US" dirty="0"/>
            </a:br>
            <a:endParaRPr lang="en-US" dirty="0"/>
          </a:p>
        </p:txBody>
      </p:sp>
      <p:sp>
        <p:nvSpPr>
          <p:cNvPr id="3" name="Slide Number Placeholder 2">
            <a:extLst>
              <a:ext uri="{FF2B5EF4-FFF2-40B4-BE49-F238E27FC236}">
                <a16:creationId xmlns:a16="http://schemas.microsoft.com/office/drawing/2014/main" id="{8C005B99-74A4-CE65-23D0-3526C2DF2469}"/>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sp>
        <p:nvSpPr>
          <p:cNvPr id="4" name="Text Placeholder 3">
            <a:extLst>
              <a:ext uri="{FF2B5EF4-FFF2-40B4-BE49-F238E27FC236}">
                <a16:creationId xmlns:a16="http://schemas.microsoft.com/office/drawing/2014/main" id="{7481E166-746B-4443-BEB4-6FFFCB454D1F}"/>
              </a:ext>
            </a:extLst>
          </p:cNvPr>
          <p:cNvSpPr>
            <a:spLocks noGrp="1"/>
          </p:cNvSpPr>
          <p:nvPr>
            <p:ph type="body" sz="quarter" idx="13"/>
          </p:nvPr>
        </p:nvSpPr>
        <p:spPr/>
        <p:txBody>
          <a:bodyPr/>
          <a:lstStyle/>
          <a:p>
            <a:pPr marL="0" indent="0">
              <a:buNone/>
            </a:pPr>
            <a:endParaRPr lang="en-US" dirty="0"/>
          </a:p>
          <a:p>
            <a:pPr marL="0" indent="0">
              <a:buNone/>
            </a:pPr>
            <a:r>
              <a:rPr lang="en-US" dirty="0"/>
              <a:t>This project will Focus on image-based object detection</a:t>
            </a:r>
          </a:p>
          <a:p>
            <a:r>
              <a:rPr lang="en-US" dirty="0"/>
              <a:t>Handle low light, rain, and fog conditions</a:t>
            </a:r>
          </a:p>
          <a:p>
            <a:r>
              <a:rPr lang="en-US" dirty="0"/>
              <a:t>Use public datasets for training and testing</a:t>
            </a:r>
          </a:p>
          <a:p>
            <a:r>
              <a:rPr lang="en-US" dirty="0"/>
              <a:t>Develop a web-based interface</a:t>
            </a:r>
          </a:p>
          <a:p>
            <a:pPr marL="0" indent="0">
              <a:buNone/>
            </a:pPr>
            <a:r>
              <a:rPr lang="en-US" dirty="0"/>
              <a:t>This project will not Cover hardware implementation Include real-time drone or vehicle deployment Develop custom datasets from scratch.</a:t>
            </a:r>
          </a:p>
        </p:txBody>
      </p:sp>
    </p:spTree>
    <p:extLst>
      <p:ext uri="{BB962C8B-B14F-4D97-AF65-F5344CB8AC3E}">
        <p14:creationId xmlns:p14="http://schemas.microsoft.com/office/powerpoint/2010/main" val="922643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BD8B1-4214-2490-E1EF-5145CA422085}"/>
              </a:ext>
            </a:extLst>
          </p:cNvPr>
          <p:cNvSpPr>
            <a:spLocks noGrp="1"/>
          </p:cNvSpPr>
          <p:nvPr>
            <p:ph type="title"/>
          </p:nvPr>
        </p:nvSpPr>
        <p:spPr>
          <a:xfrm>
            <a:off x="444500" y="542925"/>
            <a:ext cx="11214100" cy="978729"/>
          </a:xfrm>
        </p:spPr>
        <p:txBody>
          <a:bodyPr/>
          <a:lstStyle/>
          <a:p>
            <a:r>
              <a:rPr lang="en-US" dirty="0"/>
              <a:t> System Architecture</a:t>
            </a:r>
            <a:br>
              <a:rPr lang="en-US" dirty="0"/>
            </a:br>
            <a:endParaRPr lang="en-US" dirty="0"/>
          </a:p>
        </p:txBody>
      </p:sp>
      <p:sp>
        <p:nvSpPr>
          <p:cNvPr id="3" name="Slide Number Placeholder 2">
            <a:extLst>
              <a:ext uri="{FF2B5EF4-FFF2-40B4-BE49-F238E27FC236}">
                <a16:creationId xmlns:a16="http://schemas.microsoft.com/office/drawing/2014/main" id="{A7356BB7-DE2E-A287-B883-90BCC61DFAF0}"/>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4" name="Text Placeholder 3">
            <a:extLst>
              <a:ext uri="{FF2B5EF4-FFF2-40B4-BE49-F238E27FC236}">
                <a16:creationId xmlns:a16="http://schemas.microsoft.com/office/drawing/2014/main" id="{F60A3DCD-CF5B-A287-8CC9-F1CBA1685D24}"/>
              </a:ext>
            </a:extLst>
          </p:cNvPr>
          <p:cNvSpPr>
            <a:spLocks noGrp="1"/>
          </p:cNvSpPr>
          <p:nvPr>
            <p:ph type="body" sz="quarter" idx="13"/>
          </p:nvPr>
        </p:nvSpPr>
        <p:spPr/>
        <p:txBody>
          <a:bodyPr/>
          <a:lstStyle/>
          <a:p>
            <a:pPr marL="0" indent="0">
              <a:buNone/>
            </a:pPr>
            <a:r>
              <a:rPr lang="en-US" dirty="0"/>
              <a:t>System flow will be:</a:t>
            </a:r>
          </a:p>
          <a:p>
            <a:pPr marL="0" indent="0">
              <a:buNone/>
            </a:pPr>
            <a:r>
              <a:rPr lang="en-US" dirty="0"/>
              <a:t>User</a:t>
            </a:r>
          </a:p>
          <a:p>
            <a:pPr marL="0" indent="0">
              <a:buNone/>
            </a:pPr>
            <a:r>
              <a:rPr lang="en-US" dirty="0"/>
              <a:t>⬇</a:t>
            </a:r>
          </a:p>
          <a:p>
            <a:pPr marL="0" indent="0">
              <a:buNone/>
            </a:pPr>
            <a:r>
              <a:rPr lang="en-US" dirty="0"/>
              <a:t>Upload </a:t>
            </a:r>
            <a:r>
              <a:rPr lang="en-US" dirty="0" err="1"/>
              <a:t>Image⬇Image</a:t>
            </a:r>
            <a:r>
              <a:rPr lang="en-US" dirty="0"/>
              <a:t> Enhancement </a:t>
            </a:r>
            <a:r>
              <a:rPr lang="en-US" dirty="0" err="1"/>
              <a:t>Module⬇YOLO</a:t>
            </a:r>
            <a:r>
              <a:rPr lang="en-US" dirty="0"/>
              <a:t> Detection </a:t>
            </a:r>
            <a:r>
              <a:rPr lang="en-US" dirty="0" err="1"/>
              <a:t>Model⬇Detection</a:t>
            </a:r>
            <a:r>
              <a:rPr lang="en-US" dirty="0"/>
              <a:t> </a:t>
            </a:r>
            <a:r>
              <a:rPr lang="en-US" dirty="0" err="1"/>
              <a:t>Results⬇Display</a:t>
            </a:r>
            <a:r>
              <a:rPr lang="en-US" dirty="0"/>
              <a:t> Output on Web </a:t>
            </a:r>
            <a:r>
              <a:rPr lang="en-US" dirty="0" err="1"/>
              <a:t>InterfaceThis</a:t>
            </a:r>
            <a:r>
              <a:rPr lang="en-US" dirty="0"/>
              <a:t> architecture ensures modular and scalable design.</a:t>
            </a:r>
          </a:p>
        </p:txBody>
      </p:sp>
    </p:spTree>
    <p:extLst>
      <p:ext uri="{BB962C8B-B14F-4D97-AF65-F5344CB8AC3E}">
        <p14:creationId xmlns:p14="http://schemas.microsoft.com/office/powerpoint/2010/main" val="3940812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1621A-9CE3-793D-3D2B-0D88D4FB516A}"/>
              </a:ext>
            </a:extLst>
          </p:cNvPr>
          <p:cNvSpPr>
            <a:spLocks noGrp="1"/>
          </p:cNvSpPr>
          <p:nvPr>
            <p:ph type="title"/>
          </p:nvPr>
        </p:nvSpPr>
        <p:spPr>
          <a:xfrm>
            <a:off x="444500" y="542925"/>
            <a:ext cx="11214100" cy="978729"/>
          </a:xfrm>
        </p:spPr>
        <p:txBody>
          <a:bodyPr/>
          <a:lstStyle/>
          <a:p>
            <a:r>
              <a:rPr lang="en-US" dirty="0"/>
              <a:t>Tools &amp; Technologies</a:t>
            </a:r>
            <a:br>
              <a:rPr lang="en-US" dirty="0"/>
            </a:br>
            <a:endParaRPr lang="en-US" dirty="0"/>
          </a:p>
        </p:txBody>
      </p:sp>
      <p:sp>
        <p:nvSpPr>
          <p:cNvPr id="3" name="Slide Number Placeholder 2">
            <a:extLst>
              <a:ext uri="{FF2B5EF4-FFF2-40B4-BE49-F238E27FC236}">
                <a16:creationId xmlns:a16="http://schemas.microsoft.com/office/drawing/2014/main" id="{C6E97A78-52EE-8754-CBDE-F0E7FA3DE9CB}"/>
              </a:ext>
            </a:extLst>
          </p:cNvPr>
          <p:cNvSpPr>
            <a:spLocks noGrp="1"/>
          </p:cNvSpPr>
          <p:nvPr>
            <p:ph type="sldNum" sz="quarter" idx="12"/>
          </p:nvPr>
        </p:nvSpPr>
        <p:spPr/>
        <p:txBody>
          <a:bodyPr/>
          <a:lstStyle/>
          <a:p>
            <a:fld id="{C263D6C4-4840-40CC-AC84-17E24B3B7BDE}" type="slidenum">
              <a:rPr lang="en-US" noProof="0" smtClean="0"/>
              <a:pPr/>
              <a:t>9</a:t>
            </a:fld>
            <a:endParaRPr lang="en-US" noProof="0" dirty="0"/>
          </a:p>
        </p:txBody>
      </p:sp>
      <p:sp>
        <p:nvSpPr>
          <p:cNvPr id="4" name="Text Placeholder 3">
            <a:extLst>
              <a:ext uri="{FF2B5EF4-FFF2-40B4-BE49-F238E27FC236}">
                <a16:creationId xmlns:a16="http://schemas.microsoft.com/office/drawing/2014/main" id="{DB8A408C-665A-4D48-C741-33FF6BED70AC}"/>
              </a:ext>
            </a:extLst>
          </p:cNvPr>
          <p:cNvSpPr>
            <a:spLocks noGrp="1"/>
          </p:cNvSpPr>
          <p:nvPr>
            <p:ph type="body" sz="quarter" idx="13"/>
          </p:nvPr>
        </p:nvSpPr>
        <p:spPr/>
        <p:txBody>
          <a:bodyPr/>
          <a:lstStyle/>
          <a:p>
            <a:r>
              <a:rPr lang="en-US" dirty="0"/>
              <a:t>Programming Language:</a:t>
            </a:r>
          </a:p>
          <a:p>
            <a:r>
              <a:rPr lang="en-US" dirty="0"/>
              <a:t>Python</a:t>
            </a:r>
          </a:p>
          <a:p>
            <a:r>
              <a:rPr lang="en-US" dirty="0"/>
              <a:t>Deep Learning Framework:</a:t>
            </a:r>
          </a:p>
          <a:p>
            <a:r>
              <a:rPr lang="en-US" dirty="0"/>
              <a:t>YOLO (</a:t>
            </a:r>
            <a:r>
              <a:rPr lang="en-US" dirty="0" err="1"/>
              <a:t>Ultralytics</a:t>
            </a:r>
            <a:r>
              <a:rPr lang="en-US" dirty="0"/>
              <a:t>) with Py Torch</a:t>
            </a:r>
          </a:p>
          <a:p>
            <a:r>
              <a:rPr lang="en-US" dirty="0"/>
              <a:t>Image Processing: OpenCV</a:t>
            </a:r>
          </a:p>
          <a:p>
            <a:r>
              <a:rPr lang="en-US" dirty="0"/>
              <a:t>Web Development : Flask (Backend)HTML, CSS, JavaScript (Frontend)Supporting </a:t>
            </a:r>
          </a:p>
          <a:p>
            <a:r>
              <a:rPr lang="en-US" dirty="0"/>
              <a:t>Libraries: NumPy  , Matplotlib</a:t>
            </a:r>
          </a:p>
        </p:txBody>
      </p:sp>
    </p:spTree>
    <p:extLst>
      <p:ext uri="{BB962C8B-B14F-4D97-AF65-F5344CB8AC3E}">
        <p14:creationId xmlns:p14="http://schemas.microsoft.com/office/powerpoint/2010/main" val="33525394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97455-1712-8FC2-24B6-43B58B86A8BA}"/>
              </a:ext>
            </a:extLst>
          </p:cNvPr>
          <p:cNvSpPr>
            <a:spLocks noGrp="1"/>
          </p:cNvSpPr>
          <p:nvPr>
            <p:ph type="title"/>
          </p:nvPr>
        </p:nvSpPr>
        <p:spPr/>
        <p:txBody>
          <a:bodyPr/>
          <a:lstStyle/>
          <a:p>
            <a:r>
              <a:rPr lang="en-US" dirty="0"/>
              <a:t>Expected Outcomes</a:t>
            </a:r>
          </a:p>
        </p:txBody>
      </p:sp>
      <p:sp>
        <p:nvSpPr>
          <p:cNvPr id="3" name="Slide Number Placeholder 2">
            <a:extLst>
              <a:ext uri="{FF2B5EF4-FFF2-40B4-BE49-F238E27FC236}">
                <a16:creationId xmlns:a16="http://schemas.microsoft.com/office/drawing/2014/main" id="{A88B5B2E-3A05-7B1A-8F9B-1D9610649D69}"/>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ext Placeholder 3">
            <a:extLst>
              <a:ext uri="{FF2B5EF4-FFF2-40B4-BE49-F238E27FC236}">
                <a16:creationId xmlns:a16="http://schemas.microsoft.com/office/drawing/2014/main" id="{AB40B218-C41C-1D99-9CEB-D98C989731C6}"/>
              </a:ext>
            </a:extLst>
          </p:cNvPr>
          <p:cNvSpPr>
            <a:spLocks noGrp="1"/>
          </p:cNvSpPr>
          <p:nvPr>
            <p:ph type="body" sz="quarter" idx="13"/>
          </p:nvPr>
        </p:nvSpPr>
        <p:spPr/>
        <p:txBody>
          <a:bodyPr/>
          <a:lstStyle/>
          <a:p>
            <a:pPr marL="0" indent="0">
              <a:buNone/>
            </a:pPr>
            <a:r>
              <a:rPr lang="en-US" dirty="0"/>
              <a:t>At the end of the project, we expect: </a:t>
            </a:r>
          </a:p>
          <a:p>
            <a:r>
              <a:rPr lang="en-US" dirty="0"/>
              <a:t>Improved detection accuracy in adverse conditions</a:t>
            </a:r>
          </a:p>
          <a:p>
            <a:r>
              <a:rPr lang="en-US" dirty="0"/>
              <a:t> Enhanced image clarity before detection </a:t>
            </a:r>
          </a:p>
          <a:p>
            <a:r>
              <a:rPr lang="en-US" dirty="0"/>
              <a:t>Functional web-based object detection system</a:t>
            </a:r>
          </a:p>
          <a:p>
            <a:r>
              <a:rPr lang="en-US" dirty="0"/>
              <a:t> Performance comparison between enhanced and non-enhanced images</a:t>
            </a:r>
          </a:p>
        </p:txBody>
      </p:sp>
    </p:spTree>
    <p:extLst>
      <p:ext uri="{BB962C8B-B14F-4D97-AF65-F5344CB8AC3E}">
        <p14:creationId xmlns:p14="http://schemas.microsoft.com/office/powerpoint/2010/main" val="2337179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21CD1-9B71-2E22-DB85-6CDD06077F48}"/>
              </a:ext>
            </a:extLst>
          </p:cNvPr>
          <p:cNvSpPr>
            <a:spLocks noGrp="1"/>
          </p:cNvSpPr>
          <p:nvPr>
            <p:ph type="title"/>
          </p:nvPr>
        </p:nvSpPr>
        <p:spPr/>
        <p:txBody>
          <a:bodyPr/>
          <a:lstStyle/>
          <a:p>
            <a:r>
              <a:rPr lang="en-US" dirty="0"/>
              <a:t>Impact of the Project</a:t>
            </a:r>
          </a:p>
        </p:txBody>
      </p:sp>
      <p:sp>
        <p:nvSpPr>
          <p:cNvPr id="3" name="Slide Number Placeholder 2">
            <a:extLst>
              <a:ext uri="{FF2B5EF4-FFF2-40B4-BE49-F238E27FC236}">
                <a16:creationId xmlns:a16="http://schemas.microsoft.com/office/drawing/2014/main" id="{8C1DECC4-0716-F22F-6FA6-89A39338FA44}"/>
              </a:ext>
            </a:extLst>
          </p:cNvPr>
          <p:cNvSpPr>
            <a:spLocks noGrp="1"/>
          </p:cNvSpPr>
          <p:nvPr>
            <p:ph type="sldNum" sz="quarter" idx="12"/>
          </p:nvPr>
        </p:nvSpPr>
        <p:spPr/>
        <p:txBody>
          <a:bodyPr/>
          <a:lstStyle/>
          <a:p>
            <a:fld id="{C263D6C4-4840-40CC-AC84-17E24B3B7BDE}" type="slidenum">
              <a:rPr lang="en-US" noProof="0" smtClean="0"/>
              <a:pPr/>
              <a:t>11</a:t>
            </a:fld>
            <a:endParaRPr lang="en-US" noProof="0" dirty="0"/>
          </a:p>
        </p:txBody>
      </p:sp>
      <p:sp>
        <p:nvSpPr>
          <p:cNvPr id="4" name="Text Placeholder 3">
            <a:extLst>
              <a:ext uri="{FF2B5EF4-FFF2-40B4-BE49-F238E27FC236}">
                <a16:creationId xmlns:a16="http://schemas.microsoft.com/office/drawing/2014/main" id="{755B57E4-1BAE-B894-2B27-5D4550BD18B8}"/>
              </a:ext>
            </a:extLst>
          </p:cNvPr>
          <p:cNvSpPr>
            <a:spLocks noGrp="1"/>
          </p:cNvSpPr>
          <p:nvPr>
            <p:ph type="body" sz="quarter" idx="13"/>
          </p:nvPr>
        </p:nvSpPr>
        <p:spPr/>
        <p:txBody>
          <a:bodyPr/>
          <a:lstStyle/>
          <a:p>
            <a:pPr marL="0" indent="0">
              <a:buNone/>
            </a:pPr>
            <a:r>
              <a:rPr lang="en-US" dirty="0"/>
              <a:t>This system can help in:</a:t>
            </a:r>
          </a:p>
          <a:p>
            <a:r>
              <a:rPr lang="en-US" dirty="0"/>
              <a:t>Safer autonomous driving</a:t>
            </a:r>
          </a:p>
          <a:p>
            <a:r>
              <a:rPr lang="en-US" dirty="0"/>
              <a:t>Improved traffic monitoring</a:t>
            </a:r>
          </a:p>
          <a:p>
            <a:r>
              <a:rPr lang="en-US" dirty="0"/>
              <a:t>Better surveillance in poor weather</a:t>
            </a:r>
          </a:p>
          <a:p>
            <a:r>
              <a:rPr lang="en-US" dirty="0"/>
              <a:t>Smart city applications</a:t>
            </a:r>
          </a:p>
          <a:p>
            <a:r>
              <a:rPr lang="en-US" dirty="0"/>
              <a:t>It contributes toward improving AI reliability in real-world environments.</a:t>
            </a:r>
          </a:p>
        </p:txBody>
      </p:sp>
    </p:spTree>
    <p:extLst>
      <p:ext uri="{BB962C8B-B14F-4D97-AF65-F5344CB8AC3E}">
        <p14:creationId xmlns:p14="http://schemas.microsoft.com/office/powerpoint/2010/main" val="42267724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80DCC-8898-852A-1514-10291332B60E}"/>
              </a:ext>
            </a:extLst>
          </p:cNvPr>
          <p:cNvSpPr>
            <a:spLocks noGrp="1"/>
          </p:cNvSpPr>
          <p:nvPr>
            <p:ph type="title"/>
          </p:nvPr>
        </p:nvSpPr>
        <p:spPr/>
        <p:txBody>
          <a:bodyPr/>
          <a:lstStyle/>
          <a:p>
            <a:r>
              <a:rPr lang="en-US" dirty="0"/>
              <a:t>Work Plan &amp; Timeline</a:t>
            </a:r>
          </a:p>
        </p:txBody>
      </p:sp>
      <p:sp>
        <p:nvSpPr>
          <p:cNvPr id="3" name="Slide Number Placeholder 2">
            <a:extLst>
              <a:ext uri="{FF2B5EF4-FFF2-40B4-BE49-F238E27FC236}">
                <a16:creationId xmlns:a16="http://schemas.microsoft.com/office/drawing/2014/main" id="{C477CEB3-7B6B-B777-4631-C89D4B7F2BFC}"/>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a:extLst>
              <a:ext uri="{FF2B5EF4-FFF2-40B4-BE49-F238E27FC236}">
                <a16:creationId xmlns:a16="http://schemas.microsoft.com/office/drawing/2014/main" id="{CF93C253-34EB-F60B-240F-4C1A37BCECF9}"/>
              </a:ext>
            </a:extLst>
          </p:cNvPr>
          <p:cNvSpPr>
            <a:spLocks noGrp="1"/>
          </p:cNvSpPr>
          <p:nvPr>
            <p:ph type="body" sz="quarter" idx="13"/>
          </p:nvPr>
        </p:nvSpPr>
        <p:spPr/>
        <p:txBody>
          <a:bodyPr/>
          <a:lstStyle/>
          <a:p>
            <a:pPr marL="0" indent="0">
              <a:buNone/>
            </a:pPr>
            <a:r>
              <a:rPr lang="en-US" dirty="0"/>
              <a:t>                                               Month 1:</a:t>
            </a:r>
          </a:p>
          <a:p>
            <a:pPr marL="0" indent="0">
              <a:buNone/>
            </a:pPr>
            <a:r>
              <a:rPr lang="en-US" dirty="0"/>
              <a:t>		        Literature review</a:t>
            </a:r>
          </a:p>
          <a:p>
            <a:pPr marL="0" indent="0">
              <a:buNone/>
            </a:pPr>
            <a:r>
              <a:rPr lang="en-US" dirty="0"/>
              <a:t>		        Dataset collection</a:t>
            </a:r>
          </a:p>
          <a:p>
            <a:pPr marL="0" indent="0">
              <a:buNone/>
            </a:pPr>
            <a:r>
              <a:rPr lang="en-US" dirty="0"/>
              <a:t>			Month 2:</a:t>
            </a:r>
          </a:p>
          <a:p>
            <a:pPr marL="0" indent="0">
              <a:buNone/>
            </a:pPr>
            <a:r>
              <a:rPr lang="en-US" dirty="0"/>
              <a:t>		       Data preprocessing</a:t>
            </a:r>
          </a:p>
          <a:p>
            <a:pPr marL="0" indent="0">
              <a:buNone/>
            </a:pPr>
            <a:r>
              <a:rPr lang="en-US" dirty="0"/>
              <a:t>	           Image enhancement implementation</a:t>
            </a:r>
          </a:p>
          <a:p>
            <a:pPr marL="0" indent="0">
              <a:buNone/>
            </a:pPr>
            <a:r>
              <a:rPr lang="en-US" dirty="0"/>
              <a:t>			Month 3:</a:t>
            </a:r>
          </a:p>
          <a:p>
            <a:pPr marL="0" indent="0">
              <a:buNone/>
            </a:pPr>
            <a:r>
              <a:rPr lang="en-US" dirty="0"/>
              <a:t>		Model training and testing</a:t>
            </a:r>
          </a:p>
          <a:p>
            <a:pPr marL="0" indent="0">
              <a:buNone/>
            </a:pPr>
            <a:r>
              <a:rPr lang="en-US" dirty="0"/>
              <a:t>			Month 4:</a:t>
            </a:r>
          </a:p>
          <a:p>
            <a:pPr marL="0" indent="0">
              <a:buNone/>
            </a:pPr>
            <a:r>
              <a:rPr lang="en-US" dirty="0"/>
              <a:t>		Web application development</a:t>
            </a:r>
          </a:p>
          <a:p>
            <a:pPr marL="0" indent="0">
              <a:buNone/>
            </a:pPr>
            <a:r>
              <a:rPr lang="en-US" dirty="0"/>
              <a:t>		Evaluation and documentation</a:t>
            </a:r>
          </a:p>
        </p:txBody>
      </p:sp>
    </p:spTree>
    <p:extLst>
      <p:ext uri="{BB962C8B-B14F-4D97-AF65-F5344CB8AC3E}">
        <p14:creationId xmlns:p14="http://schemas.microsoft.com/office/powerpoint/2010/main" val="13361397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82B09-B9D4-F7E3-04E2-17840D3850EB}"/>
              </a:ext>
            </a:extLst>
          </p:cNvPr>
          <p:cNvSpPr>
            <a:spLocks noGrp="1"/>
          </p:cNvSpPr>
          <p:nvPr>
            <p:ph type="title"/>
          </p:nvPr>
        </p:nvSpPr>
        <p:spPr/>
        <p:txBody>
          <a:bodyPr/>
          <a:lstStyle/>
          <a:p>
            <a:r>
              <a:rPr lang="en-US" dirty="0"/>
              <a:t>Conclusion</a:t>
            </a:r>
          </a:p>
        </p:txBody>
      </p:sp>
      <p:sp>
        <p:nvSpPr>
          <p:cNvPr id="3" name="Slide Number Placeholder 2">
            <a:extLst>
              <a:ext uri="{FF2B5EF4-FFF2-40B4-BE49-F238E27FC236}">
                <a16:creationId xmlns:a16="http://schemas.microsoft.com/office/drawing/2014/main" id="{1975174D-04FE-50A4-630F-AE1535A5349E}"/>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4" name="Text Placeholder 3">
            <a:extLst>
              <a:ext uri="{FF2B5EF4-FFF2-40B4-BE49-F238E27FC236}">
                <a16:creationId xmlns:a16="http://schemas.microsoft.com/office/drawing/2014/main" id="{7383757E-A6F9-6011-705A-B5BCE53EF1F2}"/>
              </a:ext>
            </a:extLst>
          </p:cNvPr>
          <p:cNvSpPr>
            <a:spLocks noGrp="1"/>
          </p:cNvSpPr>
          <p:nvPr>
            <p:ph type="body" sz="quarter" idx="13"/>
          </p:nvPr>
        </p:nvSpPr>
        <p:spPr/>
        <p:txBody>
          <a:bodyPr/>
          <a:lstStyle/>
          <a:p>
            <a:pPr marL="0" indent="0">
              <a:buNone/>
            </a:pPr>
            <a:r>
              <a:rPr lang="en-US" dirty="0"/>
              <a:t>This project proposes the development of a robust object detection system capable of performing effectively under adverse weather conditions such as low light, rain, and fog. Traditional detection models show significant performance degradation in such environments, which limits their real-world applicability.</a:t>
            </a:r>
          </a:p>
          <a:p>
            <a:pPr marL="0" indent="0">
              <a:buNone/>
            </a:pPr>
            <a:r>
              <a:rPr lang="en-US" dirty="0"/>
              <a:t>By integrating image enhancement techniques with a YOLO-based deep learning model, the system aims to improve visibility and detection accuracy simultaneously. The proposed modular architecture ensures scalability, flexibility, and ease of deployment.</a:t>
            </a:r>
          </a:p>
          <a:p>
            <a:pPr marL="0" indent="0">
              <a:buNone/>
            </a:pPr>
            <a:r>
              <a:rPr lang="en-US" dirty="0"/>
              <a:t>Overall, this research contributes toward building more reliable and weather-resilient AI systems for real-world applications such as smart surveillance and intelligent transportation systems.</a:t>
            </a:r>
          </a:p>
          <a:p>
            <a:pPr marL="0" indent="0">
              <a:buNone/>
            </a:pPr>
            <a:endParaRPr lang="en-US" dirty="0"/>
          </a:p>
        </p:txBody>
      </p:sp>
    </p:spTree>
    <p:extLst>
      <p:ext uri="{BB962C8B-B14F-4D97-AF65-F5344CB8AC3E}">
        <p14:creationId xmlns:p14="http://schemas.microsoft.com/office/powerpoint/2010/main" val="1298623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Thank You </a:t>
            </a:r>
            <a:endParaRPr lang="en-GB" dirty="0"/>
          </a:p>
        </p:txBody>
      </p:sp>
    </p:spTree>
    <p:extLst>
      <p:ext uri="{BB962C8B-B14F-4D97-AF65-F5344CB8AC3E}">
        <p14:creationId xmlns:p14="http://schemas.microsoft.com/office/powerpoint/2010/main" val="429771863"/>
      </p:ext>
    </p:extLst>
  </p:cSld>
  <p:clrMapOvr>
    <a:masterClrMapping/>
  </p:clrMapOvr>
  <p:transition spd="slow">
    <p:wipe/>
  </p:transition>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104</TotalTime>
  <Words>680</Words>
  <Application>Microsoft Office PowerPoint</Application>
  <PresentationFormat>Widescreen</PresentationFormat>
  <Paragraphs>100</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Trade Gothic LT Pro</vt:lpstr>
      <vt:lpstr>Trebuchet MS</vt:lpstr>
      <vt:lpstr>Office Theme</vt:lpstr>
      <vt:lpstr>Robust object Detection system</vt:lpstr>
      <vt:lpstr>Project Agenda </vt:lpstr>
      <vt:lpstr>Introduction</vt:lpstr>
      <vt:lpstr>Background &amp; Literature Review</vt:lpstr>
      <vt:lpstr>Problem Statement </vt:lpstr>
      <vt:lpstr>Project Objectives</vt:lpstr>
      <vt:lpstr>Scope of the Project </vt:lpstr>
      <vt:lpstr> System Architecture </vt:lpstr>
      <vt:lpstr>Tools &amp; Technologies </vt:lpstr>
      <vt:lpstr>Expected Outcomes</vt:lpstr>
      <vt:lpstr>Impact of the Project</vt:lpstr>
      <vt:lpstr>Work Plan &amp; Timeline</vt:lpstr>
      <vt:lpstr>Conclusion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hammad Ahmad</dc:creator>
  <cp:lastModifiedBy>hammad Ahmad</cp:lastModifiedBy>
  <cp:revision>2</cp:revision>
  <dcterms:created xsi:type="dcterms:W3CDTF">2026-02-27T20:20:37Z</dcterms:created>
  <dcterms:modified xsi:type="dcterms:W3CDTF">2026-02-28T18:39:37Z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